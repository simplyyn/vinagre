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0" y="1371600"/>
            <a:ext cx="5029200" cy="411480"/>
          </a:xfrm>
          <a:prstGeom prst="rect">
            <a:avLst/>
          </a:prstGeom>
          <a:solidFill>
            <a:srgbClr val="1E40AF"/>
          </a:solidFill>
          <a:ln w="127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566160" y="13716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93C5FD"/>
                </a:solidFill>
              </a:rPr>
              <a:t>RESIDÊNCIA EM IA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920240"/>
            <a:ext cx="9418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Detector de Fake News
em Português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749039"/>
            <a:ext cx="8503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AD9F8"/>
                </a:solidFill>
              </a:rPr>
              <a:t>Classificação automática de trechos de notícias como verdadeiras ou falsas
sem regras manuais — direto do texto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846320"/>
            <a:ext cx="237744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91947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86EFAC"/>
                </a:solidFill>
              </a:rPr>
              <a:t>94,2%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3C5FD"/>
                </a:solidFill>
              </a:rPr>
              <a:t>F1 no teste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4846320"/>
            <a:ext cx="237744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491947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93C5FD"/>
                </a:solidFill>
              </a:rP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5532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3C5FD"/>
                </a:solidFill>
              </a:rPr>
              <a:t>Recall TRUE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4846320"/>
            <a:ext cx="237744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0" y="491947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DE68A"/>
                </a:solidFill>
              </a:rPr>
              <a:t>83,9%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5532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3C5FD"/>
                </a:solidFill>
              </a:rPr>
              <a:t>Recall FAKE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4846320"/>
            <a:ext cx="2377440" cy="1234440"/>
          </a:xfrm>
          <a:prstGeom prst="rect">
            <a:avLst/>
          </a:prstGeom>
          <a:solidFill>
            <a:srgbClr val="1E3A5F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32520" y="4919472"/>
            <a:ext cx="2377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C4B5FD"/>
                </a:solidFill>
              </a:rPr>
              <a:t>50 pal.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32520" y="5532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3C5FD"/>
                </a:solidFill>
              </a:rPr>
              <a:t>Entrada máx.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Classificar trechos curtos sem ver o texto completo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37947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63500" cy="41148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6093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901952"/>
            <a:ext cx="3611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Trecho de 30–50 palavras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Início da matéria (TRUE) ou boato
citado entre aspas (FAKE)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Texto corrido, sem título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554480"/>
            <a:ext cx="37947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63500" cy="41148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6093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Saída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901952"/>
            <a:ext cx="3611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TRUE ou FAKE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Confiança = distância da fronteira
de decisão do SVM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Perto de 0 = modelo em dúvida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554480"/>
            <a:ext cx="3794760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554480"/>
            <a:ext cx="63500" cy="41148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6093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Desafio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901952"/>
            <a:ext cx="361188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Texto incompleto, sem contexto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Múltiplas fontes e estilos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Boato jornalístico difícil de detectar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</a:rPr>
              <a:t>Regra de decisão: score ≥ 0  →  TRUE    |    score &lt; 0  →  FAKE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Dados de Treino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Três corpora, um formato: trechos de até 60 palavras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37947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63500" cy="43891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6093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FakeRecogna 2020–21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901952"/>
            <a:ext cx="36118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4.660 itens (2.330 fake × 2.330 true)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Fake: 9 agências de checagem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True: resumos automáticos de notícias reais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Só anos 2020–21 (onde as 2 classes existem)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Tipo fake: boato citado + outros (sem checagem)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554480"/>
            <a:ext cx="37947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63500" cy="438912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6093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Corpus Externo 2022–26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901952"/>
            <a:ext cx="36118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2.849 itens no formato do produto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Fake: Boatos.org 810 + E-farsas 112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True: G1 1.824 + Ag. Brasil 103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Split: treino até ago/26, val ago–set/26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Validação: 855 itens — base de toda decisão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554480"/>
            <a:ext cx="379476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554480"/>
            <a:ext cx="63500" cy="4389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6093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Testes externos (avaliação)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901952"/>
            <a:ext cx="3611880" cy="3977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Teste 1: 39 itens (30/09/2026)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Teste 2: 77 itens (28/09–05/10/2026)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Coleta automática via RSS, sem escolha manual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Conferidos só por conteúdo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Avaliados UMA ÚNICA VEZ em 05/10/2026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Pipeline do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5 etapas determinísticas — sem dependências externas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011680"/>
            <a:ext cx="20116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/>
              <a:t>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5420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3A5F"/>
                </a:solidFill>
              </a:rPr>
              <a:t>Entrada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9443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Texto bruto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31720" y="26060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79" y="2011680"/>
            <a:ext cx="20116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79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/>
              <a:t>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79" y="25420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3A5F"/>
                </a:solidFill>
              </a:rPr>
              <a:t>Truncamento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29443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50 palavras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6060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2011680"/>
            <a:ext cx="20116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/>
              <a:t>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5420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3A5F"/>
                </a:solidFill>
              </a:rPr>
              <a:t>TF-IDF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9443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char_wb(2,5)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6060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60919" y="2011680"/>
            <a:ext cx="20116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19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/>
              <a:t>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19" y="25420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3A5F"/>
                </a:solidFill>
              </a:rPr>
              <a:t>LinearSVC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19" y="29443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C=1, balanced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60604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4748B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2011680"/>
            <a:ext cx="201168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0" y="205740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/>
              <a:t>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542032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E3A5F"/>
                </a:solidFill>
              </a:rPr>
              <a:t>Decisão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92640" y="2944368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</a:rPr>
              <a:t>score ≥ 0 → TRUE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931920"/>
            <a:ext cx="539496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931920"/>
            <a:ext cx="63500" cy="21945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5488" y="3986784"/>
            <a:ext cx="5257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Data Augmentation — treino misto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5488" y="4279392"/>
            <a:ext cx="521208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Cada texto treinado cortado em 30, 50 e 100 palavras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Expõe o modelo ao formato real do produto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Treinar com texto completo colapsa entradas curtas:
99,8% viram FAKE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35040" y="3931920"/>
            <a:ext cx="576072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35040" y="3931920"/>
            <a:ext cx="63500" cy="2194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44768" y="3986784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Por que char_wb(2,5)?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44768" y="4279392"/>
            <a:ext cx="55778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N-gramas de caracteres capturam estilo de boatos:
MAIÚSCULAS, erros de digitação, pontuação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Mais robusto em fontes novas — nunca perde para
a base na validação cruzada por fonte (E6)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Empata com e5-small (470 MB) sem GPU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Hiperparâmetros do Modelo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modelos_finais/03.joblib  ·  scikit-learn 1.6.1  ·  TF-IDF + LinearSVC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7132320" cy="4572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667512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93C5FD"/>
                </a:solidFill>
                <a:latin typeface="Cascadia Code"/>
              </a:rPr>
              <a:t>TfidfVectorizer(</a:t>
            </a:r>
          </a:p>
          <a:p>
            <a:r>
              <a:rPr sz="1250">
                <a:solidFill>
                  <a:srgbClr val="86EFAC"/>
                </a:solidFill>
                <a:latin typeface="Cascadia Code"/>
              </a:rPr>
              <a:t>    analyzer     = "char_wb",</a:t>
            </a:r>
          </a:p>
          <a:p>
            <a:r>
              <a:rPr sz="1250">
                <a:solidFill>
                  <a:srgbClr val="E2E8F0"/>
                </a:solidFill>
                <a:latin typeface="Cascadia Code"/>
              </a:rPr>
              <a:t>    ngram_range  = (2, 5),</a:t>
            </a:r>
          </a:p>
          <a:p>
            <a:r>
              <a:rPr sz="1250">
                <a:solidFill>
                  <a:srgbClr val="E2E8F0"/>
                </a:solidFill>
                <a:latin typeface="Cascadia Code"/>
              </a:rPr>
              <a:t>    max_features = 200_000,</a:t>
            </a:r>
          </a:p>
          <a:p>
            <a:r>
              <a:rPr sz="1250">
                <a:solidFill>
                  <a:srgbClr val="E2E8F0"/>
                </a:solidFill>
                <a:latin typeface="Cascadia Code"/>
              </a:rPr>
              <a:t>    sublinear_tf = True,</a:t>
            </a:r>
          </a:p>
          <a:p>
            <a:r>
              <a:rPr sz="1250">
                <a:solidFill>
                  <a:srgbClr val="E2E8F0"/>
                </a:solidFill>
                <a:latin typeface="Cascadia Code"/>
              </a:rPr>
              <a:t>    dtype        = np.float32,</a:t>
            </a:r>
          </a:p>
          <a:p>
            <a:r>
              <a:rPr sz="1250">
                <a:solidFill>
                  <a:srgbClr val="475569"/>
                </a:solidFill>
                <a:latin typeface="Cascadia Code"/>
              </a:rPr>
              <a:t>)</a:t>
            </a:r>
          </a:p>
          <a:p>
            <a:r>
              <a:rPr sz="1250">
                <a:solidFill>
                  <a:srgbClr val="475569"/>
                </a:solidFill>
                <a:latin typeface="Cascadia Code"/>
              </a:rPr>
              <a:t/>
            </a:r>
          </a:p>
          <a:p>
            <a:r>
              <a:rPr sz="1250">
                <a:solidFill>
                  <a:srgbClr val="93C5FD"/>
                </a:solidFill>
                <a:latin typeface="Cascadia Code"/>
              </a:rPr>
              <a:t>LinearSVC(</a:t>
            </a:r>
          </a:p>
          <a:p>
            <a:r>
              <a:rPr sz="1250">
                <a:solidFill>
                  <a:srgbClr val="E2E8F0"/>
                </a:solidFill>
                <a:latin typeface="Cascadia Code"/>
              </a:rPr>
              <a:t>    C            = 1.0,</a:t>
            </a:r>
          </a:p>
          <a:p>
            <a:r>
              <a:rPr sz="1250">
                <a:solidFill>
                  <a:srgbClr val="86EFAC"/>
                </a:solidFill>
                <a:latin typeface="Cascadia Code"/>
              </a:rPr>
              <a:t>    class_weight = "balanced",</a:t>
            </a:r>
          </a:p>
          <a:p>
            <a:r>
              <a:rPr sz="1250">
                <a:solidFill>
                  <a:srgbClr val="E2E8F0"/>
                </a:solidFill>
                <a:latin typeface="Cascadia Code"/>
              </a:rPr>
              <a:t>    max_iter     = 20_000,</a:t>
            </a:r>
          </a:p>
          <a:p>
            <a:r>
              <a:rPr sz="1250">
                <a:solidFill>
                  <a:srgbClr val="475569"/>
                </a:solidFill>
                <a:latin typeface="Cascadia Code"/>
              </a:rPr>
              <a:t>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0" y="1508760"/>
            <a:ext cx="41148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0" y="1508760"/>
            <a:ext cx="63500" cy="8046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82128" y="154533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analyzer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2128" y="1874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</a:rPr>
              <a:t>char_wb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1545336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N-gramas
dentro de
palavras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423160"/>
            <a:ext cx="41148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0" y="2423160"/>
            <a:ext cx="63500" cy="8046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82128" y="245973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ngram_range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8" y="27889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</a:rPr>
              <a:t>(2, 5)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0" y="2459736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Bi a penta-
gramas de
chars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0" y="3337560"/>
            <a:ext cx="41148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3337560"/>
            <a:ext cx="63500" cy="8046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8" y="337413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max_features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8" y="37033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</a:rPr>
              <a:t>200k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0" y="3374136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Vocabulário
máximo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0" y="4251960"/>
            <a:ext cx="41148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0" y="4251960"/>
            <a:ext cx="63500" cy="8046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82128" y="428853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C (SVM)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128" y="46177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</a:rPr>
              <a:t>1,0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0" y="4288536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Regulariza-
ção padrão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5166360"/>
            <a:ext cx="41148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0" y="5166360"/>
            <a:ext cx="63500" cy="80467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82128" y="520293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class_weight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82128" y="55321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E3A5F"/>
                </a:solidFill>
              </a:rPr>
              <a:t>balanced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5202936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</a:rPr>
              <a:t>Compensa
desbalanço
treino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Jornada de Experimentos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30/09–05/10/2026 · Toda decisão usa apenas a validação externa</a:t>
            </a:r>
          </a:p>
        </p:txBody>
      </p:sp>
      <p:sp>
        <p:nvSpPr>
          <p:cNvPr id="5" name="Oval 4"/>
          <p:cNvSpPr/>
          <p:nvPr/>
        </p:nvSpPr>
        <p:spPr>
          <a:xfrm>
            <a:off x="502920" y="1572768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1737360"/>
            <a:ext cx="25400" cy="62179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</a:rPr>
              <a:t>E0 · 30/09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739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Reprodução dos controles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527048"/>
            <a:ext cx="5669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</a:rPr>
              <a:t>Baseline tamanho 94,15% / TF-IDF N=50 89,88%. sklearn 1.6.1 fixado.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2450592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1500" y="2615184"/>
            <a:ext cx="25400" cy="62179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359152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</a:rPr>
              <a:t>E2 · 01/10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Corpus externo: 2.849 itens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04872"/>
            <a:ext cx="5669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</a:rPr>
              <a:t>RSS automático, sem escolha manual. Boatos.org, E-farsas, G1, Ag. Brasil.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3328416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3493008"/>
            <a:ext cx="25400" cy="62179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236976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</a:rPr>
              <a:t>E4 · 01/10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529584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Dados: corpus externo é o que muda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282696"/>
            <a:ext cx="5669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</a:rPr>
              <a:t>fr2021+ext → F1 90,47. Sem externo: 75–83. Fake.br não acrescenta.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4206240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71500" y="4370832"/>
            <a:ext cx="25400" cy="62179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114800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</a:rPr>
              <a:t>E5 · 05/10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4074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12 variações de modelo → empate 89–92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160520"/>
            <a:ext cx="5669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</a:rPr>
              <a:t>char_wb(2,5): 91,43. word+char sem lowercase: 92,25 — o mais frágil.</a:t>
            </a:r>
          </a:p>
        </p:txBody>
      </p:sp>
      <p:sp>
        <p:nvSpPr>
          <p:cNvPr id="25" name="Oval 24"/>
          <p:cNvSpPr/>
          <p:nvPr/>
        </p:nvSpPr>
        <p:spPr>
          <a:xfrm>
            <a:off x="502920" y="5084064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1500" y="5248656"/>
            <a:ext cx="25400" cy="621792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992624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</a:rPr>
              <a:t>E6 · 05/10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852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Validação por fonte → char_wb vence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038344"/>
            <a:ext cx="5669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</a:rPr>
              <a:t>Sem E-farsas/AgB: char 80,20 × base 80,05. Sem lowercase perde 3,5 pts.</a:t>
            </a:r>
          </a:p>
        </p:txBody>
      </p:sp>
      <p:sp>
        <p:nvSpPr>
          <p:cNvPr id="30" name="Oval 29"/>
          <p:cNvSpPr/>
          <p:nvPr/>
        </p:nvSpPr>
        <p:spPr>
          <a:xfrm>
            <a:off x="502920" y="5961888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5870448"/>
            <a:ext cx="2103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</a:rPr>
              <a:t>E7 · 05/10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616305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e5-small empata, mas custa mais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916168"/>
            <a:ext cx="56692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74151"/>
                </a:solidFill>
              </a:rPr>
              <a:t>F1 91,77 ≈ char 91,43. Exige torch + 470 MB. Sem medida de robustez.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Por que char_wb(2,5)?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Análise dos critérios de decisão — antes do teste final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554480"/>
            <a:ext cx="37947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63500" cy="3840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6093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1. Topo da validação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901952"/>
            <a:ext cx="361188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F1 91,43% na validação externa (855 itens)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Empate técnico com outros 3 (91–92%)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Diferenças &lt; 1 ponto = ruído amostral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554480"/>
            <a:ext cx="37947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554480"/>
            <a:ext cx="63500" cy="38404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07408" y="16093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2. Único nunca perde em fontes novas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07408" y="1901952"/>
            <a:ext cx="361188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Na E6: empata e supera a base (+2,6)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O primeiro numérico (sem lowercase) perde 3,5 pts em fontes novas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Robustez &gt; 1 décimo de ponto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554480"/>
            <a:ext cx="3794760" cy="3840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554480"/>
            <a:ext cx="63500" cy="3840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9328" y="1609344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3. Mais simples entre os empatados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9328" y="1901952"/>
            <a:ext cx="3611880" cy="342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e5-small exige torch + 470 MB + sem medida E6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char_wb: 200k features, apenas sklearn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N-gramas de chars fazem sentido para boatos:
MAIÚSCULAS, erros de digitação, pontuação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</a:rPr>
              <a:t>O ganho real está nos dados, não no modelo: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E3A5F"/>
                </a:solidFill>
              </a:rPr>
              <a:t>candidato ~83%  →  + corpus externo ~90,5%  →  + char_wb 91,4%  →  teste 94,2%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Resultados Finais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Avaliação única · pré-registrada · 116 itens · 05/10/2026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08760"/>
            <a:ext cx="27432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58191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6A34A"/>
                </a:solidFill>
              </a:rPr>
              <a:t>94,2%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391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F1 macro [IC 89–99]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508760"/>
            <a:ext cx="27432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46120" y="158191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563EB"/>
                </a:solidFill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20391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Recall TRUE (85/85)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508760"/>
            <a:ext cx="27432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158191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97706"/>
                </a:solidFill>
              </a:rPr>
              <a:t>83,9%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0391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Recall FAKE (71/85)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98280" y="1508760"/>
            <a:ext cx="274320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581912"/>
            <a:ext cx="2743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6A34A"/>
                </a:solidFill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20391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Erros TRUE→FAKE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697480"/>
            <a:ext cx="310896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" y="2734056"/>
            <a:ext cx="3054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Método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2697480"/>
            <a:ext cx="82296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65576" y="2734056"/>
            <a:ext cx="768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Teste 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51960" y="2697480"/>
            <a:ext cx="82296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88536" y="2734056"/>
            <a:ext cx="76809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Teste 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74920" y="2697480"/>
            <a:ext cx="155448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11496" y="2734056"/>
            <a:ext cx="149961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1+2 F1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29400" y="2697480"/>
            <a:ext cx="100584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65976" y="2734056"/>
            <a:ext cx="9509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Rec.FAKE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635240" y="2697480"/>
            <a:ext cx="914400" cy="347472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71816" y="2734056"/>
            <a:ext cx="859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Rec.TRUE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044952"/>
            <a:ext cx="310896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6616" y="3090672"/>
            <a:ext cx="3054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Fake.br (antigo)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29000" y="3044952"/>
            <a:ext cx="82296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65576" y="3090672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94,2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51960" y="3044952"/>
            <a:ext cx="82296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88536" y="3090672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84,9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74920" y="3044952"/>
            <a:ext cx="155448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11496" y="3090672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88,8 [81–95]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29400" y="3044952"/>
            <a:ext cx="100584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65976" y="3090672"/>
            <a:ext cx="9509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80,6%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635240" y="3044952"/>
            <a:ext cx="91440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71816" y="3090672"/>
            <a:ext cx="859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95,3%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483864"/>
            <a:ext cx="310896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6616" y="3529584"/>
            <a:ext cx="3054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Fake.br + FR (candidato)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29000" y="3483864"/>
            <a:ext cx="82296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65576" y="3529584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88,5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251960" y="3483864"/>
            <a:ext cx="82296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88536" y="3529584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87,6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074920" y="3483864"/>
            <a:ext cx="155448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11496" y="3529584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88,2 [80–94]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29400" y="3483864"/>
            <a:ext cx="100584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65976" y="3529584"/>
            <a:ext cx="9509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74,2%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635240" y="3483864"/>
            <a:ext cx="91440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71816" y="3529584"/>
            <a:ext cx="859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97,6%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20040" y="3922776"/>
            <a:ext cx="310896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6616" y="3968496"/>
            <a:ext cx="3054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TF-IDF palavras [base]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29000" y="3922776"/>
            <a:ext cx="82296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65576" y="3968496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88,0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51960" y="3922776"/>
            <a:ext cx="82296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88536" y="3968496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93,9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74920" y="3922776"/>
            <a:ext cx="155448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111496" y="3968496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91,7 [85–97]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629400" y="3922776"/>
            <a:ext cx="100584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65976" y="3968496"/>
            <a:ext cx="9509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77,4%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635240" y="3922776"/>
            <a:ext cx="91440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71816" y="3968496"/>
            <a:ext cx="859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100%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320040" y="4361688"/>
            <a:ext cx="3108960" cy="426212"/>
          </a:xfrm>
          <a:prstGeom prst="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56616" y="4407408"/>
            <a:ext cx="3054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</a:rPr>
              <a:t>TF-IDF char_wb(2,5) ★ ESCOLHIDO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429000" y="4361688"/>
            <a:ext cx="822960" cy="426212"/>
          </a:xfrm>
          <a:prstGeom prst="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465576" y="4407408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</a:rPr>
              <a:t>88,0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251960" y="4361688"/>
            <a:ext cx="822960" cy="426212"/>
          </a:xfrm>
          <a:prstGeom prst="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288536" y="4407408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E3A5F"/>
                </a:solidFill>
              </a:rPr>
              <a:t>98,1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74920" y="4361688"/>
            <a:ext cx="1554480" cy="426212"/>
          </a:xfrm>
          <a:prstGeom prst="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111496" y="4407408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</a:rPr>
              <a:t>94,2 [89–99]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629400" y="4361688"/>
            <a:ext cx="1005840" cy="426212"/>
          </a:xfrm>
          <a:prstGeom prst="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665976" y="4407408"/>
            <a:ext cx="9509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</a:rPr>
              <a:t>83,9%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635240" y="4361688"/>
            <a:ext cx="914400" cy="426212"/>
          </a:xfrm>
          <a:prstGeom prst="rect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7671816" y="4407408"/>
            <a:ext cx="859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16A34A"/>
                </a:solidFill>
              </a:rPr>
              <a:t>100%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20040" y="4800600"/>
            <a:ext cx="310896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56616" y="4846320"/>
            <a:ext cx="3054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Palavras+chars sem lowercase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429000" y="4800600"/>
            <a:ext cx="82296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465576" y="4846320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84,6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51960" y="4800600"/>
            <a:ext cx="82296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88536" y="4846320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96,1</a:t>
            </a:r>
          </a:p>
        </p:txBody>
      </p:sp>
      <p:sp>
        <p:nvSpPr>
          <p:cNvPr id="83" name="Rectangle 82"/>
          <p:cNvSpPr/>
          <p:nvPr/>
        </p:nvSpPr>
        <p:spPr>
          <a:xfrm>
            <a:off x="5074920" y="4800600"/>
            <a:ext cx="155448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5111496" y="4846320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91,7 [85–97]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629400" y="4800600"/>
            <a:ext cx="100584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665976" y="4846320"/>
            <a:ext cx="9509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77,4%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635240" y="4800600"/>
            <a:ext cx="91440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671816" y="4846320"/>
            <a:ext cx="859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100%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320040" y="5239512"/>
            <a:ext cx="310896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56616" y="5285232"/>
            <a:ext cx="3054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e5-small + LogReg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429000" y="5239512"/>
            <a:ext cx="82296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465576" y="5285232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88,0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251960" y="5239512"/>
            <a:ext cx="82296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288536" y="5285232"/>
            <a:ext cx="7680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94,2</a:t>
            </a:r>
          </a:p>
        </p:txBody>
      </p:sp>
      <p:sp>
        <p:nvSpPr>
          <p:cNvPr id="95" name="Rectangle 94"/>
          <p:cNvSpPr/>
          <p:nvPr/>
        </p:nvSpPr>
        <p:spPr>
          <a:xfrm>
            <a:off x="5074920" y="5239512"/>
            <a:ext cx="155448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5111496" y="5285232"/>
            <a:ext cx="1499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91,9 [85–97]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629400" y="5239512"/>
            <a:ext cx="100584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665976" y="5285232"/>
            <a:ext cx="9509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80,6%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635240" y="5239512"/>
            <a:ext cx="914400" cy="4262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7671816" y="5285232"/>
            <a:ext cx="859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74151"/>
                </a:solidFill>
              </a:rPr>
              <a:t>98,8%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Demo: 50 Notícias Ao Vivo + Limitações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Validação com 5 folds · coletadas em 05/10/2026 via RSS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508760"/>
            <a:ext cx="15544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58191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6A34A"/>
                </a:solidFill>
              </a:rPr>
              <a:t>41/50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20391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Acertos globais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508760"/>
            <a:ext cx="15544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11680" y="158191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2563EB"/>
                </a:solidFill>
              </a:rPr>
              <a:t>82%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0391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Acurácia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703320" y="1508760"/>
            <a:ext cx="15544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58191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6A34A"/>
                </a:solidFill>
              </a:rPr>
              <a:t>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0391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Recall TRUE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0" y="1508760"/>
            <a:ext cx="1554480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1581912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D97706"/>
                </a:solidFill>
              </a:rPr>
              <a:t>64%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0" y="2039112"/>
            <a:ext cx="1554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</a:rPr>
              <a:t>Recall FAKE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260604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Fold 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34440" y="2679192"/>
            <a:ext cx="2560320" cy="21945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34440" y="2679192"/>
            <a:ext cx="2304287" cy="219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260604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</a:rPr>
              <a:t>90%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301752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Fold 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34440" y="3090672"/>
            <a:ext cx="2560320" cy="21945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234440" y="3090672"/>
            <a:ext cx="2048256" cy="219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0" y="301752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</a:rPr>
              <a:t>80%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342900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Fold 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34440" y="3502152"/>
            <a:ext cx="2560320" cy="21945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234440" y="3502152"/>
            <a:ext cx="2048256" cy="219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840480" y="342900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</a:rPr>
              <a:t>80%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384048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Fold 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34440" y="3913632"/>
            <a:ext cx="2560320" cy="21945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234440" y="3913632"/>
            <a:ext cx="2048256" cy="219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840480" y="384048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</a:rPr>
              <a:t>80%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425196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Fold 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34440" y="4325112"/>
            <a:ext cx="2560320" cy="21945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34440" y="4325112"/>
            <a:ext cx="2048256" cy="21945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0" y="425196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563EB"/>
                </a:solidFill>
              </a:rPr>
              <a:t>80%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0040" y="4663440"/>
            <a:ext cx="868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</a:rPr>
              <a:t>Global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234440" y="4736592"/>
            <a:ext cx="2560320" cy="219456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234440" y="4736592"/>
            <a:ext cx="2099462" cy="21945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840480" y="4663440"/>
            <a:ext cx="502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6A34A"/>
                </a:solidFill>
              </a:rPr>
              <a:t>82%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0" y="1508760"/>
            <a:ext cx="7269480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0" y="1508760"/>
            <a:ext cx="63500" cy="50749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81728" y="1563624"/>
            <a:ext cx="7132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3A5F"/>
                </a:solidFill>
              </a:rPr>
              <a:t>Principais Limitações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681728" y="1856232"/>
            <a:ext cx="70866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Aprende ESTILO (jornalístico vs WhatsApp), não veracidade factual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Fontes novas custam ~10 pts: parte do ganho é assinatura de site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Boato com redação jornalística tende a passar como TRUE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Descompasso temporal no treino (fake 2022–jul/26 × true ago–out/26)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374151"/>
                </a:solidFill>
              </a:rPr>
              <a:t>• IC [89–99]: modelos empatam — teste confirma direção, não vencedor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93C5FD"/>
                </a:solidFill>
              </a:rP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</a:rPr>
              <a:t>O ganho real está nos dados,
não no algoritmo.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Modelo antigo (só Fake.br)</a:t>
            </a:r>
          </a:p>
        </p:txBody>
      </p:sp>
      <p:sp>
        <p:nvSpPr>
          <p:cNvPr id="5" name="Rectangle 4"/>
          <p:cNvSpPr/>
          <p:nvPr/>
        </p:nvSpPr>
        <p:spPr>
          <a:xfrm>
            <a:off x="5577840" y="2340864"/>
            <a:ext cx="5029200" cy="274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77840" y="2340864"/>
            <a:ext cx="3973068" cy="2743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98480" y="22860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4748B"/>
                </a:solidFill>
              </a:rPr>
              <a:t>79%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+ FakeRecogna 2020–21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577840" y="3255264"/>
            <a:ext cx="5029200" cy="274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77840" y="3255264"/>
            <a:ext cx="4174236" cy="2743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0" y="32004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64748B"/>
                </a:solidFill>
              </a:rPr>
              <a:t>83%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1148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+ Corpus externo 2022–26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577840" y="4169664"/>
            <a:ext cx="5029200" cy="274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577840" y="4169664"/>
            <a:ext cx="4551426" cy="27432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698480" y="41148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93C5FD"/>
                </a:solidFill>
              </a:rPr>
              <a:t>90.5%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+ char_wb(2,5)  ★  FINAL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77840" y="5084064"/>
            <a:ext cx="5029200" cy="2743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77840" y="5084064"/>
            <a:ext cx="4737506" cy="274320"/>
          </a:xfrm>
          <a:prstGeom prst="rect">
            <a:avLst/>
          </a:prstGeom>
          <a:solidFill>
            <a:srgbClr val="86EF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0" y="5029200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86EFAC"/>
                </a:solidFill>
              </a:rPr>
              <a:t>94.2%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093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3C5FD"/>
                </a:solidFill>
              </a:rPr>
              <a:t>modelos_finais/03.joblib  ·  TF-IDF char_wb(2,5) + LinearSVC C=1 balanced  ·  sklearn 1.6.1  ·  F1 94,2% [89–99]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